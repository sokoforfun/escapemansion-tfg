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88" r:id="rId5"/>
    <p:sldId id="273" r:id="rId6"/>
    <p:sldId id="275" r:id="rId7"/>
    <p:sldId id="259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 autoAdjust="0"/>
  </p:normalViewPr>
  <p:slideViewPr>
    <p:cSldViewPr snapToGrid="0">
      <p:cViewPr varScale="1">
        <p:scale>
          <a:sx n="103" d="100"/>
          <a:sy n="103" d="100"/>
        </p:scale>
        <p:origin x="87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2" d="100"/>
          <a:sy n="92" d="100"/>
        </p:scale>
        <p:origin x="3732" y="3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CE7C3759-1457-46FB-8F72-9FC969C2E29E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F757874-EF65-4B61-B062-40C932C8129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D9B200B-A8D1-468B-9DFE-62D3FE64DF4B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6937E2AA-278D-0B48-A5DE-00B1FC5BDAF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818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23399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0104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2272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DE524E6-256B-444F-889B-C4E16C230803}" type="datetime1">
              <a:rPr lang="es-ES" noProof="0" smtClean="0"/>
              <a:t>31/12/2025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es-ES"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C945262-380D-499B-9A2C-B768E51E74AC}" type="datetime1">
              <a:rPr lang="es-ES" noProof="0" smtClean="0"/>
              <a:t>31/12/2025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2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9E7B6F4F-BD40-49AE-8CDB-F85286DCBC25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8012F2-2208-4E0F-BD21-37216A73E577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ítulo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es-ES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5D619BB-44C9-414B-8224-FAB07D5430B6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0A4004B-EE33-447C-A7D1-B506C4EC528D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5ECCB5A-02F8-4443-8D49-35774A182830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es-ES" sz="1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B0A5D68-46DB-4085-AAF2-A56B60A4CCDB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5pPr>
          </a:lstStyle>
          <a:p>
            <a:pPr lvl="0" rtl="0"/>
            <a:r>
              <a:rPr lang="es-ES" noProof="0"/>
              <a:t>Haga clic para agregar contenido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E44B7D3-4E5F-4D2D-95A7-00CB23AE3693}" type="datetime1">
              <a:rPr lang="es-ES" noProof="0" smtClean="0"/>
              <a:t>31/12/2025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6858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11430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6002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20574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74304D8-B3C1-44E8-83A0-18D09C3315E3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8B877DD-8742-486F-9DF2-6E05DD1B1915}" type="datetime1">
              <a:rPr lang="es-ES" smtClean="0"/>
              <a:t>31/12/2025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1800"/>
            </a:lvl1pPr>
            <a:lvl2pPr marL="457200" indent="0" algn="ctr">
              <a:buNone/>
              <a:defRPr lang="es-ES"/>
            </a:lvl2pPr>
            <a:lvl3pPr marL="914400" indent="0" algn="ctr">
              <a:buNone/>
              <a:defRPr lang="es-ES"/>
            </a:lvl3pPr>
            <a:lvl4pPr marL="1371600" indent="0" algn="ctr">
              <a:buNone/>
              <a:defRPr lang="es-ES"/>
            </a:lvl4pPr>
            <a:lvl5pPr marL="1828800" indent="0" algn="ctr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029776CB-D9FC-4A62-98FF-11EE2BA9AC6D}" type="datetime1">
              <a:rPr lang="es-ES" noProof="0" smtClean="0"/>
              <a:t>31/12/2025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2900"/>
            <a:ext cx="9144000" cy="711200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Escape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Mansion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Sergio Villalba Jaén</a:t>
            </a:r>
            <a:br>
              <a:rPr lang="es-ES" dirty="0"/>
            </a:br>
            <a:br>
              <a:rPr lang="es-ES" dirty="0"/>
            </a:br>
            <a:r>
              <a:rPr lang="es-ES" dirty="0"/>
              <a:t>TFG Videojuegos</a:t>
            </a:r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69" y="270415"/>
            <a:ext cx="9434662" cy="967835"/>
          </a:xfrm>
          <a:noFill/>
        </p:spPr>
        <p:txBody>
          <a:bodyPr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Contexto y</a:t>
            </a:r>
            <a:br>
              <a:rPr lang="es-ES" dirty="0"/>
            </a:br>
            <a:r>
              <a:rPr lang="es-ES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1457865"/>
            <a:ext cx="8766355" cy="3076036"/>
          </a:xfrm>
          <a:noFill/>
        </p:spPr>
        <p:txBody>
          <a:bodyPr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Género: Puzles y Exploración / Terror psicológico</a:t>
            </a:r>
          </a:p>
          <a:p>
            <a:pPr rtl="0"/>
            <a:r>
              <a:rPr lang="es-ES" dirty="0"/>
              <a:t>Motor: </a:t>
            </a:r>
            <a:r>
              <a:rPr lang="es-ES" dirty="0" err="1"/>
              <a:t>Unreal</a:t>
            </a:r>
            <a:r>
              <a:rPr lang="es-ES" dirty="0"/>
              <a:t> </a:t>
            </a:r>
            <a:r>
              <a:rPr lang="es-ES" dirty="0" err="1"/>
              <a:t>Engine</a:t>
            </a:r>
            <a:r>
              <a:rPr lang="es-ES" dirty="0"/>
              <a:t> 5 (5.4.4)</a:t>
            </a:r>
          </a:p>
          <a:p>
            <a:pPr rtl="0"/>
            <a:r>
              <a:rPr lang="es-ES" dirty="0"/>
              <a:t>Objetivo principal: Juego funcional con puzles interconectados y progresión</a:t>
            </a:r>
          </a:p>
        </p:txBody>
      </p:sp>
    </p:spTree>
    <p:extLst>
      <p:ext uri="{BB962C8B-B14F-4D97-AF65-F5344CB8AC3E}">
        <p14:creationId xmlns:p14="http://schemas.microsoft.com/office/powerpoint/2010/main" val="207081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315686"/>
            <a:ext cx="3462618" cy="1328468"/>
          </a:xfrm>
        </p:spPr>
        <p:txBody>
          <a:bodyPr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Estudio de Usuarios</a:t>
            </a:r>
          </a:p>
        </p:txBody>
      </p:sp>
      <p:pic>
        <p:nvPicPr>
          <p:cNvPr id="5" name="Marcador de posición de imagen 4" descr="Gráfico de respuestas de formularios. Título de la pregunta:  ¿Hasta qué punto te resulta frustrante tener que encontrar objetos ocultos en el escenario para poder avanzar? (Escala lineal de 1 a 5). Número de respuestas: 18 respuestas.">
            <a:extLst>
              <a:ext uri="{FF2B5EF4-FFF2-40B4-BE49-F238E27FC236}">
                <a16:creationId xmlns:a16="http://schemas.microsoft.com/office/drawing/2014/main" id="{728F0660-3FCD-9CB6-BC0A-26A596540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973606" y="1626143"/>
            <a:ext cx="3320760" cy="201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Gráfico de respuestas de formularios. Título de la pregunta: ¿Qué tipo de puzles sueles preferir en este tipo de juegos? (Puedes marcar varias casillas). Número de respuestas: 18 respuestas.">
            <a:extLst>
              <a:ext uri="{FF2B5EF4-FFF2-40B4-BE49-F238E27FC236}">
                <a16:creationId xmlns:a16="http://schemas.microsoft.com/office/drawing/2014/main" id="{BD1C557E-E652-11A3-158C-60E0E4CC9F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606" y="3894681"/>
            <a:ext cx="3320760" cy="267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Gráfico de respuestas de formularios. Título de la pregunta: ¿Qué tan importante te parece que el juego dé una señal clara (texto, sonido, animación...) cuando has hecho algo correcto dentro del juego? (Escala lineal 1 a 5). Número de respuestas: 18 respuestas.">
            <a:extLst>
              <a:ext uri="{FF2B5EF4-FFF2-40B4-BE49-F238E27FC236}">
                <a16:creationId xmlns:a16="http://schemas.microsoft.com/office/drawing/2014/main" id="{0FA883CA-6B7F-7028-E2CD-5023CDF8BE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394" y="1626143"/>
            <a:ext cx="3462618" cy="201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Gráfico de respuestas de formularios. Título de la pregunta: ¿Has jugado a algún juego de puzles o exploración (por ejemplo The Room, Silent Hill, Resident Evil, etc.)?. Número de respuestas: 18 respuestas.">
            <a:extLst>
              <a:ext uri="{FF2B5EF4-FFF2-40B4-BE49-F238E27FC236}">
                <a16:creationId xmlns:a16="http://schemas.microsoft.com/office/drawing/2014/main" id="{FAF241E7-4D37-C906-46E6-1F70FD851E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394" y="3894681"/>
            <a:ext cx="3462618" cy="25617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94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4C32D16-1562-2EB5-2A0A-85329A6FD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876" y="1634697"/>
            <a:ext cx="8700247" cy="442874"/>
          </a:xfrm>
        </p:spPr>
        <p:txBody>
          <a:bodyPr/>
          <a:lstStyle/>
          <a:p>
            <a:r>
              <a:rPr lang="es-ES" dirty="0"/>
              <a:t>Arquitectura del Software</a:t>
            </a:r>
            <a:br>
              <a:rPr lang="es-ES" dirty="0"/>
            </a:br>
            <a:r>
              <a:rPr lang="es-ES" sz="2000" dirty="0"/>
              <a:t>Diseño Híbrido (C++ y </a:t>
            </a:r>
            <a:r>
              <a:rPr lang="es-ES" sz="2000" dirty="0" err="1"/>
              <a:t>Blueprints</a:t>
            </a:r>
            <a:r>
              <a:rPr lang="es-ES" sz="2000" dirty="0"/>
              <a:t>)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5B4BB3-1337-8A16-8DC0-3E12B4E1E561}"/>
              </a:ext>
            </a:extLst>
          </p:cNvPr>
          <p:cNvSpPr txBox="1"/>
          <p:nvPr/>
        </p:nvSpPr>
        <p:spPr>
          <a:xfrm>
            <a:off x="1499347" y="2727107"/>
            <a:ext cx="3798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Sistema de Inventario </a:t>
            </a:r>
          </a:p>
          <a:p>
            <a:pPr marL="285750" indent="-285750">
              <a:buFontTx/>
              <a:buChar char="-"/>
            </a:pPr>
            <a:r>
              <a:rPr lang="es-ES" sz="1200" dirty="0"/>
              <a:t>Basado en Componentes (</a:t>
            </a:r>
            <a:r>
              <a:rPr lang="es-ES" sz="1200" dirty="0" err="1"/>
              <a:t>BP_ControlInventario</a:t>
            </a:r>
            <a:r>
              <a:rPr lang="es-ES" sz="1200" dirty="0"/>
              <a:t>) para lógica reutilizable.</a:t>
            </a:r>
          </a:p>
          <a:p>
            <a:endParaRPr lang="es-ES" sz="1200" dirty="0"/>
          </a:p>
          <a:p>
            <a:pPr marL="285750" indent="-285750">
              <a:buFontTx/>
              <a:buChar char="-"/>
            </a:pPr>
            <a:r>
              <a:rPr lang="es-ES" sz="1200" dirty="0"/>
              <a:t>Uso de Estructuras de Datos (</a:t>
            </a:r>
            <a:r>
              <a:rPr lang="es-ES" sz="1200" dirty="0" err="1"/>
              <a:t>Struct_DatosObjeto</a:t>
            </a:r>
            <a:r>
              <a:rPr lang="es-ES" sz="1200" dirty="0"/>
              <a:t>) para definir objetos.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516BCA-BCAF-291C-ADE3-55AC5668055A}"/>
              </a:ext>
            </a:extLst>
          </p:cNvPr>
          <p:cNvSpPr txBox="1"/>
          <p:nvPr/>
        </p:nvSpPr>
        <p:spPr>
          <a:xfrm>
            <a:off x="1499347" y="4392306"/>
            <a:ext cx="3798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Comunicación </a:t>
            </a:r>
            <a:r>
              <a:rPr lang="es-ES" sz="1200" dirty="0" err="1"/>
              <a:t>Descoplada</a:t>
            </a:r>
            <a:r>
              <a:rPr lang="es-ES" sz="1200" dirty="0"/>
              <a:t>:</a:t>
            </a:r>
          </a:p>
          <a:p>
            <a:pPr marL="285750" indent="-285750">
              <a:buFontTx/>
              <a:buChar char="-"/>
            </a:pPr>
            <a:r>
              <a:rPr lang="es-ES" sz="1200" dirty="0"/>
              <a:t>Uso de </a:t>
            </a:r>
            <a:r>
              <a:rPr lang="es-ES" sz="1200" dirty="0" err="1"/>
              <a:t>Event</a:t>
            </a:r>
            <a:r>
              <a:rPr lang="es-ES" sz="1200" dirty="0"/>
              <a:t> </a:t>
            </a:r>
            <a:r>
              <a:rPr lang="es-ES" sz="1200" dirty="0" err="1"/>
              <a:t>Dispatchers</a:t>
            </a:r>
            <a:r>
              <a:rPr lang="es-ES" sz="1200" dirty="0"/>
              <a:t> en puzles (Ej. </a:t>
            </a:r>
            <a:r>
              <a:rPr lang="es-ES" sz="1200" dirty="0" err="1"/>
              <a:t>Keypad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pPr marL="285750" indent="-285750">
              <a:buFontTx/>
              <a:buChar char="-"/>
            </a:pPr>
            <a:r>
              <a:rPr lang="es-ES" sz="1200" dirty="0"/>
              <a:t>Permite activar mecanismos (puertas) sin dependencias directas.</a:t>
            </a: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4324DEEB-98B0-A266-E4B0-5B797F66F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510" y="2727107"/>
            <a:ext cx="5490914" cy="284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4_TF10081922_Win32" id="{844886B3-BF47-497B-B4FE-2EF751E8CA35}" vid="{A6C54B32-D796-482B-83D4-8010EA1494B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{258066E8-7BF3-4548-BFCB-FECED1B6AA5E}TF96423eb0-8e02-4a99-b83b-bc60d19202d5aa699101_win32-961eb55c11a4</Template>
  <TotalTime>172</TotalTime>
  <Words>114</Words>
  <Application>Microsoft Office PowerPoint</Application>
  <PresentationFormat>Panorámica</PresentationFormat>
  <Paragraphs>19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Quire Sans Pro Light</vt:lpstr>
      <vt:lpstr>Tisa Offc Serif Pro</vt:lpstr>
      <vt:lpstr>Personalizar</vt:lpstr>
      <vt:lpstr>Escape The Mansion  Sergio Villalba Jaén  TFG Videojuegos</vt:lpstr>
      <vt:lpstr>Contexto y Objetivos</vt:lpstr>
      <vt:lpstr>Estudio de Usuarios</vt:lpstr>
      <vt:lpstr>Arquitectura del Software Diseño Híbrido (C++ y Blueprints)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Villalba Jaén</dc:creator>
  <cp:lastModifiedBy>Sergio Villalba Jaén</cp:lastModifiedBy>
  <cp:revision>1</cp:revision>
  <dcterms:created xsi:type="dcterms:W3CDTF">2025-12-31T10:49:22Z</dcterms:created>
  <dcterms:modified xsi:type="dcterms:W3CDTF">2025-12-31T16:40:35Z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